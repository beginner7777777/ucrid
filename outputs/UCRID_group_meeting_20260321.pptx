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822960"/>
            <a:ext cx="10972800" cy="1143000"/>
          </a:xfrm>
          <a:prstGeom prst="roundRect">
            <a:avLst>
              <a:gd name="adj" fmla="val 8000"/>
            </a:avLst>
          </a:prstGeom>
          <a:noFill/>
          <a:ln w="1524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17324D"/>
                </a:solidFill>
                <a:latin typeface="Noto Sans CJK SC"/>
              </a:rPr>
              <a:t>UCRID：面向意图识别与 OOS 检测的</a:t>
            </a:r>
          </a:p>
          <a:p>
            <a:pPr algn="l"/>
            <a:r>
              <a:rPr sz="2400" b="1">
                <a:solidFill>
                  <a:srgbClr val="17324D"/>
                </a:solidFill>
                <a:latin typeface="Noto Sans CJK SC"/>
              </a:rPr>
              <a:t>不确定性感知级联路由框架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2194560"/>
            <a:ext cx="5669280" cy="18288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>组会汇报内容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>1. 研究问题与方法动机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>2. 程序与代码逻辑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>3. 核心实验结果</a:t>
            </a:r>
          </a:p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>4. 当前结论与后续计划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9400" y="1234440"/>
            <a:ext cx="4846320" cy="4480560"/>
          </a:xfrm>
          <a:prstGeom prst="roundRect">
            <a:avLst>
              <a:gd name="adj" fmla="val 8000"/>
            </a:avLst>
          </a:prstGeom>
          <a:solidFill>
            <a:srgbClr val="FFF8E7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0">
                <a:solidFill>
                  <a:srgbClr val="1F2937"/>
                </a:solidFill>
                <a:latin typeface="Noto Sans CJK SC"/>
              </a:rPr>
              <a:t>关键词</a:t>
            </a:r>
          </a:p>
          <a:p>
            <a:pPr algn="l"/>
            <a:r>
              <a:rPr sz="2000" b="0">
                <a:solidFill>
                  <a:srgbClr val="1F2937"/>
                </a:solidFill>
                <a:latin typeface="Noto Sans CJK SC"/>
              </a:rPr>
              <a:t>• Intent Detection</a:t>
            </a:r>
          </a:p>
          <a:p>
            <a:pPr algn="l"/>
            <a:r>
              <a:rPr sz="2000" b="0">
                <a:solidFill>
                  <a:srgbClr val="1F2937"/>
                </a:solidFill>
                <a:latin typeface="Noto Sans CJK SC"/>
              </a:rPr>
              <a:t>• OOS Detection</a:t>
            </a:r>
          </a:p>
          <a:p>
            <a:pPr algn="l"/>
            <a:r>
              <a:rPr sz="2000" b="0">
                <a:solidFill>
                  <a:srgbClr val="1F2937"/>
                </a:solidFill>
                <a:latin typeface="Noto Sans CJK SC"/>
              </a:rPr>
              <a:t>• Cascade Routing</a:t>
            </a:r>
          </a:p>
          <a:p>
            <a:pPr algn="l"/>
            <a:r>
              <a:rPr sz="2000" b="0">
                <a:solidFill>
                  <a:srgbClr val="1F2937"/>
                </a:solidFill>
                <a:latin typeface="Noto Sans CJK SC"/>
              </a:rPr>
              <a:t>• Small Model + LLM</a:t>
            </a:r>
          </a:p>
          <a:p>
            <a:pPr algn="l"/>
            <a:r>
              <a:rPr sz="2000" b="0">
                <a:solidFill>
                  <a:srgbClr val="1F2937"/>
                </a:solidFill>
                <a:latin typeface="Noto Sans CJK SC"/>
              </a:rPr>
              <a:t>• CLINC150 / Banking77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Noto Sans CJK SC"/>
              </a:rPr>
              <a:t>1. 研究动机与问题定义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563"/>
                </a:solidFill>
                <a:latin typeface="Noto Sans CJK SC"/>
              </a:rPr>
              <a:t>为什么不是纯小模型，也不是纯大模型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05840" cy="54864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DEBEC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27048"/>
            <a:ext cx="3337560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324D"/>
                </a:solidFill>
                <a:latin typeface="Noto Sans CJK SC"/>
              </a:rPr>
              <a:t>纯小模型的问题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速度快、部署便宜，但 OOS 检测能力弱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对边界样本和语义模糊样本容易误判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只用 softmax top-1 时，难以区分低置信 ID 与真正 OOS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17320"/>
            <a:ext cx="3657600" cy="4389120"/>
          </a:xfrm>
          <a:prstGeom prst="roundRect">
            <a:avLst>
              <a:gd name="adj" fmla="val 8000"/>
            </a:avLst>
          </a:prstGeom>
          <a:solidFill>
            <a:srgbClr val="FFF8E7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527048"/>
            <a:ext cx="3337560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324D"/>
                </a:solidFill>
                <a:latin typeface="Noto Sans CJK SC"/>
              </a:rPr>
              <a:t>纯大模型的问题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准确率高，但推理延迟和成本都高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全量调用 LLM 不适合在线服务场景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不同开源模型的输出格式稳定性差异较大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566160" cy="4389120"/>
          </a:xfrm>
          <a:prstGeom prst="roundRect">
            <a:avLst>
              <a:gd name="adj" fmla="val 8000"/>
            </a:avLst>
          </a:prstGeom>
          <a:solidFill>
            <a:srgbClr val="E7F8E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527048"/>
            <a:ext cx="3246120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324D"/>
                </a:solidFill>
                <a:latin typeface="Noto Sans CJK SC"/>
              </a:rPr>
              <a:t>UCRID 的目标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让小模型处理大多数简单样本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只把不确定区域交给 LLM 仲裁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在保证 OOS F1 的同时降低 LLM 调用率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Noto Sans CJK SC"/>
              </a:rPr>
              <a:t>2. 方法总览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563"/>
                </a:solidFill>
                <a:latin typeface="Noto Sans CJK SC"/>
              </a:rPr>
              <a:t>三阶段级联：Stage 1 小模型，Stage 2 路由，Stage 3 LLM 精判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05840" cy="54864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crid_dual_column_train_infer_202603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06424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Noto Sans CJK SC"/>
              </a:rPr>
              <a:t>3. 训练阶段逻辑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563"/>
                </a:solidFill>
                <a:latin typeface="Noto Sans CJK SC"/>
              </a:rPr>
              <a:t>代码入口：src/train.py，损失定义：src/losses/multi_task_loss.py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05840" cy="54864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57600" cy="44805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27048"/>
            <a:ext cx="333756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324D"/>
                </a:solidFill>
                <a:latin typeface="Noto Sans CJK SC"/>
              </a:rPr>
              <a:t>Stage 1 模型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BERT-base 编码器 + 两层 MLP 分类头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输出 logits 与 CLS embedding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embedding 既用于分类，也用于原型距离计算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657600" cy="4480560"/>
          </a:xfrm>
          <a:prstGeom prst="roundRect">
            <a:avLst>
              <a:gd name="adj" fmla="val 8000"/>
            </a:avLst>
          </a:prstGeom>
          <a:solidFill>
            <a:srgbClr val="E7F8E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27048"/>
            <a:ext cx="333756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324D"/>
                </a:solidFill>
                <a:latin typeface="Noto Sans CJK SC"/>
              </a:rPr>
              <a:t>训练损失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L = L_CE + λs·L_SupCon + λb·L_Boundary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SupCon 让同类更紧、异类更分离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Boundary 让 OOS 样本远离 ID 原型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17320"/>
            <a:ext cx="3474720" cy="4480560"/>
          </a:xfrm>
          <a:prstGeom prst="roundRect">
            <a:avLst>
              <a:gd name="adj" fmla="val 8000"/>
            </a:avLst>
          </a:prstGeom>
          <a:solidFill>
            <a:srgbClr val="FFF8E7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527048"/>
            <a:ext cx="315468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324D"/>
                </a:solidFill>
                <a:latin typeface="Noto Sans CJK SC"/>
              </a:rPr>
              <a:t>训练 schedule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Epoch 1-3：CE only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Epoch 4-6：CE + SupCon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Epoch 7+：CE + SupCon + Boundary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每轮后按训练集重建 intent mean prototypes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Noto Sans CJK SC"/>
              </a:rPr>
              <a:t>4. 推理阶段逻辑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563"/>
                </a:solidFill>
                <a:latin typeface="Noto Sans CJK SC"/>
              </a:rPr>
              <a:t>代码入口：src/experiments/run_ucrid.py 与 src/inference/ucrid_router.py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05840" cy="54864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crid_algorithm_flowchart_202603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400800" cy="5212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60" y="1508760"/>
            <a:ext cx="4069080" cy="4754880"/>
          </a:xfrm>
          <a:prstGeom prst="roundRect">
            <a:avLst>
              <a:gd name="adj" fmla="val 8000"/>
            </a:avLst>
          </a:prstGeom>
          <a:solidFill>
            <a:srgbClr val="FFE5EC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618488"/>
            <a:ext cx="3749040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324D"/>
                </a:solidFill>
                <a:latin typeface="Noto Sans CJK SC"/>
              </a:rPr>
              <a:t>关键判定规则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若 s(u) ≤ τ_accept：直接接收小模型 top-1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若 s(u) ≥ τ_reject 且 d_min &gt; Δ：直接判 OOS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否则：进入 Stage 3 由 LLM 精判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验证集上搜索 α、τ_accept、τ_reject、Δ，并做温度缩放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Noto Sans CJK SC"/>
              </a:rPr>
              <a:t>5. Stage 3：LLM 仲裁模块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563"/>
                </a:solidFill>
                <a:latin typeface="Noto Sans CJK SC"/>
              </a:rPr>
              <a:t>代码入口：src/inference/llm_judge.py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05840" cy="54864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749039" cy="4480560"/>
          </a:xfrm>
          <a:prstGeom prst="roundRect">
            <a:avLst>
              <a:gd name="adj" fmla="val 8000"/>
            </a:avLst>
          </a:prstGeom>
          <a:solidFill>
            <a:srgbClr val="FFF8E7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27048"/>
            <a:ext cx="3428999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324D"/>
                </a:solidFill>
                <a:latin typeface="Noto Sans CJK SC"/>
              </a:rPr>
              <a:t>Prompt 构成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Top-k candidate intents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intent definition / heuristic description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每个候选 intent 的 few-shot 示例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OOS 示例池中检索出的 few-shot OOS 示例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657600" cy="4480560"/>
          </a:xfrm>
          <a:prstGeom prst="roundRect">
            <a:avLst>
              <a:gd name="adj" fmla="val 8000"/>
            </a:avLst>
          </a:prstGeom>
          <a:solidFill>
            <a:srgbClr val="E7F8E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527048"/>
            <a:ext cx="333756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324D"/>
                </a:solidFill>
                <a:latin typeface="Noto Sans CJK SC"/>
              </a:rPr>
              <a:t>输出解析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优先解析 JSON label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去除 &lt;think&gt; 等推理痕迹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exact match / snippet match / 相似度兜底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最后映射到 intent id 或 OOS 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417320"/>
            <a:ext cx="3429000" cy="44805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59" y="1527048"/>
            <a:ext cx="310896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324D"/>
                </a:solidFill>
                <a:latin typeface="Noto Sans CJK SC"/>
              </a:rPr>
              <a:t>接纳策略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all：LLM 结果全部接纳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oos_only：仅接纳 LLM 的 OOS 输出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id_only：仅接纳 LLM 的 ID 输出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当前最佳结果基本都来自 oos_only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Noto Sans CJK SC"/>
              </a:rPr>
              <a:t>6. 代码结构与数据流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563"/>
                </a:solidFill>
                <a:latin typeface="Noto Sans CJK SC"/>
              </a:rPr>
              <a:t>从训练到评测的关键文件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05840" cy="54864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66160" cy="44805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27048"/>
            <a:ext cx="324612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324D"/>
                </a:solidFill>
                <a:latin typeface="Noto Sans CJK SC"/>
              </a:rPr>
              <a:t>训练相关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src/train.py：Stage 1 训练主入口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src/models/bert_encoder.py：BERT + classifier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src/losses/multi_task_loss.py：CE / SupCon / Boundary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566160" cy="4480560"/>
          </a:xfrm>
          <a:prstGeom prst="roundRect">
            <a:avLst>
              <a:gd name="adj" fmla="val 8000"/>
            </a:avLst>
          </a:prstGeom>
          <a:solidFill>
            <a:srgbClr val="FFF8E7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527048"/>
            <a:ext cx="324612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324D"/>
                </a:solidFill>
                <a:latin typeface="Noto Sans CJK SC"/>
              </a:rPr>
              <a:t>推理相关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src/experiments/run_ucrid.py：完整测试流程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src/inference/ucrid_router.py：双阈值路由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src/inference/llm_judge.py：Prompt 构造与 LLM 调用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17320"/>
            <a:ext cx="3474720" cy="4480560"/>
          </a:xfrm>
          <a:prstGeom prst="roundRect">
            <a:avLst>
              <a:gd name="adj" fmla="val 8000"/>
            </a:avLst>
          </a:prstGeom>
          <a:solidFill>
            <a:srgbClr val="E7F8E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527048"/>
            <a:ext cx="315468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324D"/>
                </a:solidFill>
                <a:latin typeface="Noto Sans CJK SC"/>
              </a:rPr>
              <a:t>结果输出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ucrid_results.json：汇总指标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ucrid_prediction_details.json：样本级明细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便于做论文表格、误差分析、case study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Noto Sans CJK SC"/>
              </a:rPr>
              <a:t>7. 实验结果：CLINC150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563"/>
                </a:solidFill>
                <a:latin typeface="Noto Sans CJK SC"/>
              </a:rPr>
              <a:t>Qwen3-8B fixed 在当前流程下效果最佳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05840" cy="54864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6304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Noto Sans CJK SC"/>
                        </a:rPr>
                        <a:t>模型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Noto Sans CJK SC"/>
                        </a:rPr>
                        <a:t>Acc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Noto Sans CJK SC"/>
                        </a:rPr>
                        <a:t>OOS P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Noto Sans CJK SC"/>
                        </a:rPr>
                        <a:t>OOS R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Noto Sans CJK SC"/>
                        </a:rPr>
                        <a:t>OOS F1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Noto Sans CJK SC"/>
                        </a:rPr>
                        <a:t>P95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Noto Sans CJK SC"/>
                        </a:rPr>
                        <a:t>llm_used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Qwen2-7B基线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90.51%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94.29%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66.00%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0.7765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211.2 ms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133 / 443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Qwen3-8B 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92.40%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93.76%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76.60%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0.8431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117.0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305 / 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Mixtral-8x7B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91.02%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93.62%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69.00%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0.7945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2593.5 ms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179 / 443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840480"/>
            <a:ext cx="10698480" cy="1920240"/>
          </a:xfrm>
          <a:prstGeom prst="roundRect">
            <a:avLst>
              <a:gd name="adj" fmla="val 8000"/>
            </a:avLst>
          </a:prstGeom>
          <a:solidFill>
            <a:srgbClr val="FFE5EC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50208"/>
            <a:ext cx="1037844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324D"/>
                </a:solidFill>
                <a:latin typeface="Noto Sans CJK SC"/>
              </a:rPr>
              <a:t>结论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Qwen3-8B fixed 的 OOS F1 最高（0.8431），说明输出格式稳定性和 OOS 仲裁能力最强。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Mixtral 也能带来提升，但更保守，OOS recall 低于 Qwen3，同时延迟高一个数量级。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CLINC150 对 Stage 3 的输出稳定性更敏感，因此模型差距被进一步放大。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Noto Sans CJK SC"/>
              </a:rPr>
              <a:t>8. 实验结果：Banking77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563"/>
                </a:solidFill>
                <a:latin typeface="Noto Sans CJK SC"/>
              </a:rPr>
              <a:t>Banking77 上 Qwen2 / Qwen3 差距较小，Mixtral 仍慢且略弱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05840" cy="54864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6304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Noto Sans CJK SC"/>
                        </a:rPr>
                        <a:t>模型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Noto Sans CJK SC"/>
                        </a:rPr>
                        <a:t>Acc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Noto Sans CJK SC"/>
                        </a:rPr>
                        <a:t>OOS P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Noto Sans CJK SC"/>
                        </a:rPr>
                        <a:t>OOS R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Noto Sans CJK SC"/>
                        </a:rPr>
                        <a:t>OOS F1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Noto Sans CJK SC"/>
                        </a:rPr>
                        <a:t>P95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Noto Sans CJK SC"/>
                        </a:rPr>
                        <a:t>llm_used</a:t>
                      </a:r>
                    </a:p>
                  </a:txBody>
                  <a:tcPr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Qwen2-7B基线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92.60%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94.00%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94.00%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0.9400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37.7 ms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110 / 258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Qwen3-8B 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92.65%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94.95%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94.00%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0.9447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39.2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105 / 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Mixtral-8x7B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91.76%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95.00%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87.40%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0.9104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957.1 ms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Noto Sans CJK SC"/>
                        </a:rPr>
                        <a:t>70 / 258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840480"/>
            <a:ext cx="10698480" cy="1920240"/>
          </a:xfrm>
          <a:prstGeom prst="roundRect">
            <a:avLst>
              <a:gd name="adj" fmla="val 8000"/>
            </a:avLst>
          </a:prstGeom>
          <a:solidFill>
            <a:srgbClr val="E7F8E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50208"/>
            <a:ext cx="1037844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324D"/>
                </a:solidFill>
                <a:latin typeface="Noto Sans CJK SC"/>
              </a:rPr>
              <a:t>结论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Banking77 上 Qwen2-7B 和 Qwen3-8B fixed 都很强，Qwen3-8B fixed 小幅领先。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Mixtral 的 precision 不低，但 recall 明显下降，说明在 oos_only 策略下被接纳的有效 OOS 更少。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如果考虑综合性能和延迟，Qwen3-8B fixed 依然是当前最稳的选择。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Noto Sans CJK SC"/>
              </a:rPr>
              <a:t>9. 当前结论与下一步计划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B5563"/>
                </a:solidFill>
                <a:latin typeface="Noto Sans CJK SC"/>
              </a:rPr>
              <a:t>适合作为组会收尾页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05840" cy="54864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27048"/>
            <a:ext cx="498348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324D"/>
                </a:solidFill>
                <a:latin typeface="Noto Sans CJK SC"/>
              </a:rPr>
              <a:t>当前结论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UCRID 的核心价值在于：用不确定性路由把小模型与 LLM 有机结合。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最优配置并不是‘更大的 LLM’，而是‘更稳定、可解析、可接纳的 LLM 输出’。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在当前实验中，Qwen3-8B fixed 是两个数据集上的最佳综合方案。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417320"/>
            <a:ext cx="5440680" cy="4480560"/>
          </a:xfrm>
          <a:prstGeom prst="roundRect">
            <a:avLst>
              <a:gd name="adj" fmla="val 8000"/>
            </a:avLst>
          </a:prstGeom>
          <a:solidFill>
            <a:srgbClr val="FFF8E7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527048"/>
            <a:ext cx="5120640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7324D"/>
                </a:solidFill>
                <a:latin typeface="Noto Sans CJK SC"/>
              </a:rPr>
              <a:t>下一步计划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补充英文 Method、Algorithm 和 Figure caption。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补做消融：去掉 SupCon、Boundary、distance signal、LLM stage。</a:t>
            </a:r>
          </a:p>
          <a:p>
            <a:pPr>
              <a:defRPr sz="1500">
                <a:solidFill>
                  <a:srgbClr val="1F2937"/>
                </a:solidFill>
                <a:latin typeface="Noto Sans CJK SC"/>
              </a:defRPr>
            </a:pPr>
            <a:r>
              <a:t>补做成本分析与错误案例分析，增强论文说服力。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532120"/>
            <a:ext cx="10789920" cy="640080"/>
          </a:xfrm>
          <a:prstGeom prst="roundRect">
            <a:avLst>
              <a:gd name="adj" fmla="val 8000"/>
            </a:avLst>
          </a:prstGeom>
          <a:solidFill>
            <a:srgbClr val="FFE5EC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附：本 PPT 由当前代码、实验结果和生成的论文图自动整理，可继续迭代为投稿版汇报。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